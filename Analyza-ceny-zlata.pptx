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2"/>
    </p:embeddedFont>
    <p:embeddedFont>
      <p:font typeface="Roboto Mono Medium" panose="00000009000000000000" pitchFamily="49" charset="0"/>
      <p:regular r:id="rId13"/>
    </p:embeddedFont>
  </p:embeddedFontLst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42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17576"/>
            <a:ext cx="42849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Analýza ceny zlata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7316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Ročníkový projekt – Objektovo orientované programovanie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59447"/>
            <a:ext cx="1285303" cy="266402"/>
          </a:xfrm>
          <a:prstGeom prst="roundRect">
            <a:avLst>
              <a:gd name="adj" fmla="val 6386"/>
            </a:avLst>
          </a:prstGeom>
          <a:solidFill>
            <a:srgbClr val="3D4D0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Text 3"/>
          <p:cNvSpPr/>
          <p:nvPr/>
        </p:nvSpPr>
        <p:spPr>
          <a:xfrm>
            <a:off x="581174" y="3001938"/>
            <a:ext cx="153479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sk-SK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Stašenko, Varga, Šipoš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78477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Cieľ projektu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4035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prináša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praktickú Java aplikáciu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 analýzu historických cien zlata – od načítania dát po vizualizáciu výsledkov.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6069" y="2053456"/>
            <a:ext cx="4741813" cy="10817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43077" y="221426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Čo program robí?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43077" y="2520776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Načítava údaje z CSV súboru a umožňuje používateľovi vykonávať rôzne analýzy cien zlata.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6069" y="3276972"/>
            <a:ext cx="4741813" cy="10817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43077" y="34377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Ako to vyzerá?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143077" y="3744292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Grafické rozhranie v JavaFX poskytuje prehľadné zadávanie údajov aj zobrazenie výsledkov.</a:t>
            </a:r>
            <a:endParaRPr lang="en-US" sz="1100" dirty="0"/>
          </a:p>
        </p:txBody>
      </p:sp>
      <p:pic>
        <p:nvPicPr>
          <p:cNvPr id="12" name="Obrázok 11">
            <a:extLst>
              <a:ext uri="{FF2B5EF4-FFF2-40B4-BE49-F238E27FC236}">
                <a16:creationId xmlns:a16="http://schemas.microsoft.com/office/drawing/2014/main" id="{D27CA880-4DB4-3554-8E4F-13FA03D10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8" y="1227758"/>
            <a:ext cx="3765567" cy="2913603"/>
          </a:xfrm>
          <a:prstGeom prst="rect">
            <a:avLst/>
          </a:prstGeo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5481B359-697A-E361-0F1B-C6426A0A8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9574"/>
            <a:ext cx="44975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Použité technológie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607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využíva moderný Java stack a nástroje pre vývoj aj dokumentáciu.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9236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53060"/>
            <a:ext cx="21256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Java &amp; IntelliJ IDEA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957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Objektovo orientovaný základ aplikácie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199236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JavaFX &amp; FXML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75957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Grafické rozhranie a jeho štruktúra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1992362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CSS štýly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75957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Svetlý a tmavý vizuálny režim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306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GitHub &amp; Mermaid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03711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Verzovanie kódu a dokumentácia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2433" y="3269903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7306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CSV súbory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72433" y="403711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Historické dáta o cenách zlata</a:t>
            </a:r>
            <a:endParaRPr lang="en-US" sz="1100" dirty="0"/>
          </a:p>
        </p:txBody>
      </p:sp>
      <p:pic>
        <p:nvPicPr>
          <p:cNvPr id="19" name="Obrázok 18">
            <a:extLst>
              <a:ext uri="{FF2B5EF4-FFF2-40B4-BE49-F238E27FC236}">
                <a16:creationId xmlns:a16="http://schemas.microsoft.com/office/drawing/2014/main" id="{2658590B-4438-397F-A6A7-E33F00BD30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17822"/>
            <a:ext cx="4493940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Architektúra projektu – MVC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8796" y="1618205"/>
            <a:ext cx="331730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Architektúra </a:t>
            </a:r>
            <a:r>
              <a:rPr lang="en-US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MVC (Model-View-Controller)</a:t>
            </a: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oddeľuje logiku, dáta a používateľské rozhranie. Výsledkom je prehľadný, udržiavateľný a rozšíriteľný kód.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133029" y="4288110"/>
            <a:ext cx="2245891" cy="537567"/>
          </a:xfrm>
          <a:prstGeom prst="roundRect">
            <a:avLst>
              <a:gd name="adj" fmla="val 27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Text 3"/>
          <p:cNvSpPr/>
          <p:nvPr/>
        </p:nvSpPr>
        <p:spPr>
          <a:xfrm>
            <a:off x="1232669" y="4387751"/>
            <a:ext cx="1245989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🔵</a:t>
            </a:r>
            <a:r>
              <a:rPr lang="en-US" sz="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Model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232669" y="4590231"/>
            <a:ext cx="204661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GoldPrice · PriceAnalyzer · GoldPriceReader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448943" y="4288110"/>
            <a:ext cx="2245965" cy="537567"/>
          </a:xfrm>
          <a:prstGeom prst="roundRect">
            <a:avLst>
              <a:gd name="adj" fmla="val 27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Text 6"/>
          <p:cNvSpPr/>
          <p:nvPr/>
        </p:nvSpPr>
        <p:spPr>
          <a:xfrm>
            <a:off x="3548583" y="4387751"/>
            <a:ext cx="1245989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🟢</a:t>
            </a:r>
            <a:r>
              <a:rPr lang="en-US" sz="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View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548583" y="4590231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gold_price_view.fxml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764932" y="4288110"/>
            <a:ext cx="2245965" cy="537567"/>
          </a:xfrm>
          <a:prstGeom prst="roundRect">
            <a:avLst>
              <a:gd name="adj" fmla="val 27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Text 9"/>
          <p:cNvSpPr/>
          <p:nvPr/>
        </p:nvSpPr>
        <p:spPr>
          <a:xfrm>
            <a:off x="5864572" y="4387751"/>
            <a:ext cx="1245989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🟡</a:t>
            </a:r>
            <a:r>
              <a:rPr lang="en-US" sz="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Controller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64572" y="4590231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GoldPriceController</a:t>
            </a:r>
            <a:endParaRPr lang="en-US" sz="750" dirty="0"/>
          </a:p>
        </p:txBody>
      </p:sp>
      <p:pic>
        <p:nvPicPr>
          <p:cNvPr id="15" name="Obrázok 14">
            <a:extLst>
              <a:ext uri="{FF2B5EF4-FFF2-40B4-BE49-F238E27FC236}">
                <a16:creationId xmlns:a16="http://schemas.microsoft.com/office/drawing/2014/main" id="{034C5C26-F079-A27D-3C74-310C3DBFBBF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40" y="1222488"/>
            <a:ext cx="4006403" cy="2368913"/>
          </a:xfrm>
          <a:prstGeom prst="rect">
            <a:avLst/>
          </a:prstGeom>
        </p:spPr>
      </p:pic>
      <p:pic>
        <p:nvPicPr>
          <p:cNvPr id="16" name="Obrázok 15">
            <a:extLst>
              <a:ext uri="{FF2B5EF4-FFF2-40B4-BE49-F238E27FC236}">
                <a16:creationId xmlns:a16="http://schemas.microsoft.com/office/drawing/2014/main" id="{1821E06D-AF0C-BAE9-8F34-EDB575BB6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638621"/>
            <a:ext cx="51355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Funkcionality programu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1298600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2942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Načítanie dát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60072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historických cien zlata priamo z CSV súboru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115443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111053"/>
            <a:ext cx="21256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Výpis mesačných cien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4175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Zobrazenie cien za ľubovoľný zvolený rok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93228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2927896"/>
            <a:ext cx="20193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Štatistické analýzy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23440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Výpočet priemeru, mediánu a vyhľadanie maximálnej ceny s dátumom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975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3971553"/>
            <a:ext cx="19131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Hodnota investície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56816" y="42780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Výpočet aktuálnej hodnoty a zisku alebo straty z investície do zlata</a:t>
            </a:r>
            <a:endParaRPr lang="en-US" sz="1100" dirty="0"/>
          </a:p>
        </p:txBody>
      </p:sp>
      <p:pic>
        <p:nvPicPr>
          <p:cNvPr id="26" name="Obrázok 25">
            <a:extLst>
              <a:ext uri="{FF2B5EF4-FFF2-40B4-BE49-F238E27FC236}">
                <a16:creationId xmlns:a16="http://schemas.microsoft.com/office/drawing/2014/main" id="{DA6C059A-2F28-FD4F-9923-A49491539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  <p:pic>
        <p:nvPicPr>
          <p:cNvPr id="30" name="Obrázok 29">
            <a:extLst>
              <a:ext uri="{FF2B5EF4-FFF2-40B4-BE49-F238E27FC236}">
                <a16:creationId xmlns:a16="http://schemas.microsoft.com/office/drawing/2014/main" id="{DD056102-C469-A19D-2E7B-3D021258D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925" y="1269212"/>
            <a:ext cx="3521690" cy="3008852"/>
          </a:xfrm>
          <a:prstGeom prst="rect">
            <a:avLst/>
          </a:prstGeom>
        </p:spPr>
      </p:pic>
      <p:cxnSp>
        <p:nvCxnSpPr>
          <p:cNvPr id="32" name="Rovná spojovacia šípka 31">
            <a:extLst>
              <a:ext uri="{FF2B5EF4-FFF2-40B4-BE49-F238E27FC236}">
                <a16:creationId xmlns:a16="http://schemas.microsoft.com/office/drawing/2014/main" id="{20F482C7-1493-26C4-638E-5A1B33228007}"/>
              </a:ext>
            </a:extLst>
          </p:cNvPr>
          <p:cNvCxnSpPr/>
          <p:nvPr/>
        </p:nvCxnSpPr>
        <p:spPr>
          <a:xfrm>
            <a:off x="5145277" y="1132340"/>
            <a:ext cx="947564" cy="12507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18951"/>
            <a:ext cx="5929908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Grafické rozhranie – JavaFX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020767" y="1163166"/>
            <a:ext cx="238236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Čo používateľ vidí?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020767" y="1519163"/>
            <a:ext cx="2655094" cy="863947"/>
          </a:xfrm>
          <a:prstGeom prst="roundRect">
            <a:avLst>
              <a:gd name="adj" fmla="val 2346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3"/>
          <p:cNvSpPr/>
          <p:nvPr/>
        </p:nvSpPr>
        <p:spPr>
          <a:xfrm>
            <a:off x="6174879" y="1673275"/>
            <a:ext cx="1730201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📥</a:t>
            </a: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Zadanie údajov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74879" y="2017886"/>
            <a:ext cx="2346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Rok, dátum nákupu, množstvo zlata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20767" y="2511847"/>
            <a:ext cx="2655094" cy="1075060"/>
          </a:xfrm>
          <a:prstGeom prst="roundRect">
            <a:avLst>
              <a:gd name="adj" fmla="val 1885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6"/>
          <p:cNvSpPr/>
          <p:nvPr/>
        </p:nvSpPr>
        <p:spPr>
          <a:xfrm>
            <a:off x="6174879" y="2665958"/>
            <a:ext cx="1932831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📊</a:t>
            </a: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Výsledky analýzy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4879" y="3010570"/>
            <a:ext cx="23468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Priemer, medián, maximum – prehľadne zobrazené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20767" y="3715643"/>
            <a:ext cx="2655094" cy="863947"/>
          </a:xfrm>
          <a:prstGeom prst="roundRect">
            <a:avLst>
              <a:gd name="adj" fmla="val 2346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9"/>
          <p:cNvSpPr/>
          <p:nvPr/>
        </p:nvSpPr>
        <p:spPr>
          <a:xfrm>
            <a:off x="6174879" y="3869754"/>
            <a:ext cx="1932831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📈</a:t>
            </a: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Graf vývoja ceny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4879" y="4214366"/>
            <a:ext cx="23468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Vizualizácia trendu cien v čase</a:t>
            </a:r>
            <a:endParaRPr lang="en-US" sz="1050" dirty="0"/>
          </a:p>
        </p:txBody>
      </p:sp>
      <p:pic>
        <p:nvPicPr>
          <p:cNvPr id="15" name="Obrázok 14">
            <a:extLst>
              <a:ext uri="{FF2B5EF4-FFF2-40B4-BE49-F238E27FC236}">
                <a16:creationId xmlns:a16="http://schemas.microsoft.com/office/drawing/2014/main" id="{EE28CA21-A4F4-65A3-C358-7A44B5C0B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96" y="1516349"/>
            <a:ext cx="5385032" cy="2862027"/>
          </a:xfrm>
          <a:prstGeom prst="rect">
            <a:avLst/>
          </a:prstGeom>
        </p:spPr>
      </p:pic>
      <p:pic>
        <p:nvPicPr>
          <p:cNvPr id="16" name="Obrázok 15">
            <a:extLst>
              <a:ext uri="{FF2B5EF4-FFF2-40B4-BE49-F238E27FC236}">
                <a16:creationId xmlns:a16="http://schemas.microsoft.com/office/drawing/2014/main" id="{9D6C5E11-0ACB-4021-6F83-AD890B80D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558"/>
            <a:ext cx="70493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CSS štýly – Dva vizuálne režimy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970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Aplikácia podporuje prepínanie vzhľadu priamo z grafického rozhrania – každý používateľ si zvolí svoj obľúbený režim.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834780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☀️</a:t>
            </a: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Svetlý režim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414605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Jasný a čistý dizajn s vysokým kontrastom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60553" y="3834780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🌙</a:t>
            </a: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Tmavý režim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414605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Elegantný tmavý </a:t>
            </a:r>
            <a:r>
              <a:rPr lang="en-US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vzhľad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</a:t>
            </a:r>
            <a:r>
              <a:rPr lang="sk-SK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zlatými prvkami</a:t>
            </a:r>
            <a:endParaRPr lang="en-US" sz="1100" dirty="0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6A59DF9B-1098-430D-86F4-3D2B4561F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38" y="1762025"/>
            <a:ext cx="2433478" cy="2030227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1DA2E461-6D03-4DE0-4D7C-5BFF44E0B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723876"/>
            <a:ext cx="2370482" cy="2025286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EC632481-0737-8DBF-E18E-D8D5EFDDD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689706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Flowchart – Výpočet hodnoty investície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74489" y="1155892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Algoritmus prevedie používateľa celým procesom výpočtu – od načítania dát až po finálny výsledok so ziskom alebo stratou.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74489" y="2728392"/>
            <a:ext cx="3759622" cy="580355"/>
          </a:xfrm>
          <a:prstGeom prst="roundRect">
            <a:avLst>
              <a:gd name="adj" fmla="val 2920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sk-S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2889721"/>
            <a:ext cx="141163" cy="112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574" y="2846561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 záznam pre daný dátum neexistuje, používateľ dostane zrozumiteľnú chybovú správu.</a:t>
            </a:r>
            <a:endParaRPr lang="en-US" sz="850" dirty="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69BDD4A2-3360-7895-2109-CC9D781AF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  <p:pic>
        <p:nvPicPr>
          <p:cNvPr id="9" name="Obrázok 8" descr="Obrázok, na ktorom je text, snímka obrazovky, diagram, dizajn&#10;&#10;Automaticky generovaný popis">
            <a:extLst>
              <a:ext uri="{FF2B5EF4-FFF2-40B4-BE49-F238E27FC236}">
                <a16:creationId xmlns:a16="http://schemas.microsoft.com/office/drawing/2014/main" id="{E13D37F7-BB1B-9AE3-EF42-87F73073F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766" y="0"/>
            <a:ext cx="2146233" cy="5141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52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77651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Záver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09640" y="1006301"/>
            <a:ext cx="4753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 úspešne spája </a:t>
            </a:r>
            <a:r>
              <a:rPr lang="en-US" sz="10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teóriu OOP</a:t>
            </a: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 praktickou aplikáciou – od architektúry MVC po funkčné grafické rozhranie.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9640" y="1588591"/>
            <a:ext cx="4753719" cy="3178969"/>
          </a:xfrm>
          <a:prstGeom prst="roundRect">
            <a:avLst>
              <a:gd name="adj" fmla="val 64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3"/>
          <p:cNvSpPr/>
          <p:nvPr/>
        </p:nvSpPr>
        <p:spPr>
          <a:xfrm>
            <a:off x="3909640" y="1588591"/>
            <a:ext cx="4753719" cy="794742"/>
          </a:xfrm>
          <a:prstGeom prst="roundRect">
            <a:avLst>
              <a:gd name="adj" fmla="val 2592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Text 4"/>
          <p:cNvSpPr/>
          <p:nvPr/>
        </p:nvSpPr>
        <p:spPr>
          <a:xfrm>
            <a:off x="4046934" y="1725885"/>
            <a:ext cx="1716658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🏗️</a:t>
            </a: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Architektúra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46934" y="2029718"/>
            <a:ext cx="447913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MVC vzor a objektovo orientovaný prístup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09640" y="2383334"/>
            <a:ext cx="4753719" cy="79474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7"/>
          <p:cNvSpPr/>
          <p:nvPr/>
        </p:nvSpPr>
        <p:spPr>
          <a:xfrm>
            <a:off x="3909640" y="2383334"/>
            <a:ext cx="4753719" cy="19050"/>
          </a:xfrm>
          <a:prstGeom prst="roundRect">
            <a:avLst>
              <a:gd name="adj" fmla="val 10813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Text 8"/>
          <p:cNvSpPr/>
          <p:nvPr/>
        </p:nvSpPr>
        <p:spPr>
          <a:xfrm>
            <a:off x="4046934" y="2520628"/>
            <a:ext cx="1716658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💻</a:t>
            </a: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Technológie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46934" y="2824460"/>
            <a:ext cx="447913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Java, JavaFX, FXML, CSS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9640" y="3178076"/>
            <a:ext cx="4753719" cy="79474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1"/>
          <p:cNvSpPr/>
          <p:nvPr/>
        </p:nvSpPr>
        <p:spPr>
          <a:xfrm>
            <a:off x="3909640" y="3178076"/>
            <a:ext cx="4753719" cy="19050"/>
          </a:xfrm>
          <a:prstGeom prst="roundRect">
            <a:avLst>
              <a:gd name="adj" fmla="val 10813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Text 12"/>
          <p:cNvSpPr/>
          <p:nvPr/>
        </p:nvSpPr>
        <p:spPr>
          <a:xfrm>
            <a:off x="4046934" y="3315370"/>
            <a:ext cx="1716658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📊</a:t>
            </a: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Funkcionalita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46934" y="3619202"/>
            <a:ext cx="447913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Analýza cien a výpočet investície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909640" y="3972818"/>
            <a:ext cx="4753719" cy="79474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Shape 15"/>
          <p:cNvSpPr/>
          <p:nvPr/>
        </p:nvSpPr>
        <p:spPr>
          <a:xfrm>
            <a:off x="3909640" y="3972818"/>
            <a:ext cx="4753719" cy="19050"/>
          </a:xfrm>
          <a:prstGeom prst="roundRect">
            <a:avLst>
              <a:gd name="adj" fmla="val 10813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Text 16"/>
          <p:cNvSpPr/>
          <p:nvPr/>
        </p:nvSpPr>
        <p:spPr>
          <a:xfrm>
            <a:off x="4046934" y="4110112"/>
            <a:ext cx="1716658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🎨</a:t>
            </a: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UX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046934" y="4413945"/>
            <a:ext cx="447913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Prehľadné rozhranie s dvoma režimami</a:t>
            </a:r>
            <a:endParaRPr lang="en-US" sz="1050" dirty="0"/>
          </a:p>
        </p:txBody>
      </p:sp>
      <p:pic>
        <p:nvPicPr>
          <p:cNvPr id="21" name="Obrázok 20">
            <a:extLst>
              <a:ext uri="{FF2B5EF4-FFF2-40B4-BE49-F238E27FC236}">
                <a16:creationId xmlns:a16="http://schemas.microsoft.com/office/drawing/2014/main" id="{EABB72F8-A392-0F1A-4E50-CE24C8298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446" y="4814079"/>
            <a:ext cx="1146553" cy="32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386</Words>
  <Application>Microsoft Office PowerPoint</Application>
  <PresentationFormat>Prezentácia na obrazovke (16:9)</PresentationFormat>
  <Paragraphs>74</Paragraphs>
  <Slides>9</Slides>
  <Notes>9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3" baseType="lpstr">
      <vt:lpstr>Arial</vt:lpstr>
      <vt:lpstr>Roboto Mono Medium</vt:lpstr>
      <vt:lpstr>Roboto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René Stašenko</dc:creator>
  <cp:lastModifiedBy>Stašenko René</cp:lastModifiedBy>
  <cp:revision>2</cp:revision>
  <dcterms:created xsi:type="dcterms:W3CDTF">2026-05-31T21:07:19Z</dcterms:created>
  <dcterms:modified xsi:type="dcterms:W3CDTF">2026-05-31T21:47:04Z</dcterms:modified>
</cp:coreProperties>
</file>